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2B8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4B9CF"/>
                </a:solidFill>
                <a:latin typeface="Aptos"/>
              </a:rPr>
              <a:t>JECRC FOUNDATION ? JAIPUR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510528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A4B9CF"/>
                </a:solidFill>
                <a:latin typeface="Aptos"/>
              </a:rPr>
              <a:t>01  /  12</a:t>
            </a:r>
          </a:p>
        </p:txBody>
      </p:sp>
      <p:sp>
        <p:nvSpPr>
          <p:cNvPr id="5" name="Oval 4"/>
          <p:cNvSpPr/>
          <p:nvPr/>
        </p:nvSpPr>
        <p:spPr>
          <a:xfrm>
            <a:off x="8961120" y="457200"/>
            <a:ext cx="2560320" cy="2560320"/>
          </a:xfrm>
          <a:prstGeom prst="ellipse">
            <a:avLst/>
          </a:prstGeom>
          <a:solidFill>
            <a:srgbClr val="2BD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1371600"/>
            <a:ext cx="1280160" cy="1280160"/>
          </a:xfrm>
          <a:prstGeom prst="ellipse">
            <a:avLst/>
          </a:prstGeom>
          <a:solidFill>
            <a:srgbClr val="5E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0" y="4389120"/>
            <a:ext cx="3017520" cy="3017520"/>
          </a:xfrm>
          <a:prstGeom prst="ellipse">
            <a:avLst/>
          </a:prstGeom>
          <a:solidFill>
            <a:srgbClr val="FFA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BD2B8"/>
                </a:solidFill>
                <a:latin typeface="Aptos"/>
              </a:rPr>
              <a:t>MEDISCAN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399032"/>
            <a:ext cx="9144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A652"/>
                </a:solidFill>
                <a:latin typeface="Aptos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694944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200" b="1">
                <a:solidFill>
                  <a:srgbClr val="F4F8FC"/>
                </a:solidFill>
                <a:latin typeface="Aptos"/>
              </a:rPr>
              <a:t>Clinical clarity
when symptoms feel uncertain.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584448"/>
            <a:ext cx="58521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A4B9CF"/>
                </a:solidFill>
                <a:latin typeface="Aptos"/>
              </a:rPr>
              <a:t>An explainable, physician-in-the-loop triage platform
for safer first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709160"/>
            <a:ext cx="3429000" cy="292608"/>
          </a:xfrm>
          <a:prstGeom prst="roundRect">
            <a:avLst>
              <a:gd name="adj" fmla="val 12000"/>
            </a:avLst>
          </a:prstGeom>
          <a:solidFill>
            <a:srgbClr val="2BD2B8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750308"/>
            <a:ext cx="3429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081226"/>
                </a:solidFill>
                <a:latin typeface="Aptos"/>
              </a:rPr>
              <a:t>FULL-STACK  ?  XAI  ?  CLINICAL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833872"/>
            <a:ext cx="6217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4F8FC"/>
                </a:solidFill>
                <a:latin typeface="Aptos"/>
              </a:rPr>
              <a:t>Yash Vijay  |  Solo project  |  JECRC Foundation, Jaipur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5897880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4B9CF"/>
                </a:solidFill>
                <a:latin typeface="Aptos"/>
              </a:rPr>
              <a:t>PROJECT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2B8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4B9CF"/>
                </a:solidFill>
                <a:latin typeface="Aptos"/>
              </a:rPr>
              <a:t>MEDISCANAI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510528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A4B9CF"/>
                </a:solidFill>
                <a:latin typeface="Aptos"/>
              </a:rPr>
              <a:t>02  /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D2B8"/>
                </a:solidFill>
                <a:latin typeface="Aptos"/>
              </a:rPr>
              <a:t>THE MOMENT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The first decision should not be a dead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332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4B9CF"/>
                </a:solidFill>
                <a:latin typeface="Aptos"/>
              </a:rPr>
              <a:t>People need direction before they can reach the right care.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3429000" cy="214884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4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286000"/>
            <a:ext cx="54864" cy="2148840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468880"/>
            <a:ext cx="411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FA652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468880"/>
            <a:ext cx="30449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Aptos"/>
              </a:rPr>
              <a:t>Static checklists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907792"/>
            <a:ext cx="3044952" cy="1399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4B9CF"/>
                </a:solidFill>
                <a:latin typeface="Aptos"/>
              </a:rPr>
              <a:t>Long forms create fatigue. Missing one symptom can distort the entire picture.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286000"/>
            <a:ext cx="3429000" cy="214884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4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2286000"/>
            <a:ext cx="54864" cy="2148840"/>
          </a:xfrm>
          <a:prstGeom prst="roundRect">
            <a:avLst>
              <a:gd name="adj" fmla="val 12000"/>
            </a:avLst>
          </a:prstGeom>
          <a:solidFill>
            <a:srgbClr val="FF6670"/>
          </a:solidFill>
          <a:ln>
            <a:solidFill>
              <a:srgbClr val="F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468880"/>
            <a:ext cx="411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F6670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2468880"/>
            <a:ext cx="30449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Aptos"/>
              </a:rPr>
              <a:t>Black-box outputs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907792"/>
            <a:ext cx="3044952" cy="1399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4B9CF"/>
                </a:solidFill>
                <a:latin typeface="Aptos"/>
              </a:rPr>
              <a:t>A label without reasoning creates anxiety?not confidence.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286000"/>
            <a:ext cx="3429000" cy="214884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4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2440" y="2286000"/>
            <a:ext cx="54864" cy="2148840"/>
          </a:xfrm>
          <a:prstGeom prst="roundRect">
            <a:avLst>
              <a:gd name="adj" fmla="val 12000"/>
            </a:avLst>
          </a:prstGeom>
          <a:solidFill>
            <a:srgbClr val="5ED6FF"/>
          </a:solidFill>
          <a:ln>
            <a:solidFill>
              <a:srgbClr val="5E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2468880"/>
            <a:ext cx="411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5ED6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0808" y="2468880"/>
            <a:ext cx="30449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Aptos"/>
              </a:rPr>
              <a:t>No clinical handoff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907792"/>
            <a:ext cx="3044952" cy="1399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4B9CF"/>
                </a:solidFill>
                <a:latin typeface="Aptos"/>
              </a:rPr>
              <a:t>Most tools stop at a prediction. Care teams need a reviewable case.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F4F8FC"/>
                </a:solidFill>
                <a:latin typeface="Aptos"/>
              </a:rPr>
              <a:t>MediscanAI turns symptom uncertainty into an explainable, reviewable next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2B8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4B9CF"/>
                </a:solidFill>
                <a:latin typeface="Aptos"/>
              </a:rPr>
              <a:t>MEDISCANAI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510528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A4B9CF"/>
                </a:solidFill>
                <a:latin typeface="Aptos"/>
              </a:rPr>
              <a:t>03  /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D2B8"/>
                </a:solidFill>
                <a:latin typeface="Aptos"/>
              </a:rPr>
              <a:t>THE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One workflow. Three layers of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332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4B9CF"/>
                </a:solidFill>
                <a:latin typeface="Aptos"/>
              </a:rPr>
              <a:t>Adaptive intake ? explainable prediction ? physician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40280"/>
            <a:ext cx="2971800" cy="219456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4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5486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2BD2B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63240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Aptos"/>
              </a:rPr>
              <a:t>ADAPT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566160"/>
            <a:ext cx="2331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A4B9CF"/>
                </a:solidFill>
                <a:latin typeface="Aptos"/>
              </a:rPr>
              <a:t>Ask only the next relevant question.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208" y="2971800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2BD2B8"/>
                </a:solidFill>
                <a:latin typeface="Aptos"/>
              </a:rPr>
              <a:t>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240280"/>
            <a:ext cx="2971800" cy="219456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4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468880"/>
            <a:ext cx="5486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5ED6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063240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Aptos"/>
              </a:rPr>
              <a:t>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566160"/>
            <a:ext cx="2331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A4B9CF"/>
                </a:solidFill>
                <a:latin typeface="Aptos"/>
              </a:rPr>
              <a:t>Show what influenced the prediction.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2971800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5ED6FF"/>
                </a:solidFill>
                <a:latin typeface="Aptos"/>
              </a:rPr>
              <a:t>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240280"/>
            <a:ext cx="2971800" cy="219456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4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2468880"/>
            <a:ext cx="5486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FA652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063240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Aptos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566160"/>
            <a:ext cx="2331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A4B9CF"/>
                </a:solidFill>
                <a:latin typeface="Aptos"/>
              </a:rPr>
              <a:t>Keep a clinician in the loop.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103327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BD2B8"/>
                </a:solidFill>
                <a:latin typeface="Aptos"/>
              </a:rPr>
              <a:t>The product is not ?AI replaces a doctor.?
It is ?AI makes the next human decision better informed.?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2B8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4B9CF"/>
                </a:solidFill>
                <a:latin typeface="Aptos"/>
              </a:rPr>
              <a:t>MEDISCANAI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510528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A4B9CF"/>
                </a:solidFill>
                <a:latin typeface="Aptos"/>
              </a:rPr>
              <a:t>04  /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D2B8"/>
                </a:solidFill>
                <a:latin typeface="Aptos"/>
              </a:rPr>
              <a:t>PRODUCT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A patient journey designed for momentum.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332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4B9CF"/>
                </a:solidFill>
                <a:latin typeface="Aptos"/>
              </a:rPr>
              <a:t>Every screen answers: what do I do next, and why?</a:t>
            </a:r>
          </a:p>
        </p:txBody>
      </p:sp>
      <p:pic>
        <p:nvPicPr>
          <p:cNvPr id="8" name="Picture 7" descr=".pp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5349240" cy="34015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532120"/>
            <a:ext cx="5349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A4B9CF"/>
                </a:solidFill>
                <a:latin typeface="Aptos"/>
              </a:rPr>
              <a:t>Landing experience: safety-first positioning</a:t>
            </a:r>
          </a:p>
        </p:txBody>
      </p:sp>
      <p:pic>
        <p:nvPicPr>
          <p:cNvPr id="10" name="Picture 9" descr=".ppt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57400"/>
            <a:ext cx="5285232" cy="3401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5532120"/>
            <a:ext cx="5285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A4B9CF"/>
                </a:solidFill>
                <a:latin typeface="Aptos"/>
              </a:rPr>
              <a:t>Adaptive questionnaire: focused intake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742432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5ED6FF"/>
          </a:solidFill>
          <a:ln>
            <a:solidFill>
              <a:srgbClr val="5E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783580"/>
            <a:ext cx="1417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081226"/>
                </a:solidFill>
                <a:latin typeface="Aptos"/>
              </a:rPr>
              <a:t>PATIENT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788152"/>
            <a:ext cx="7863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4F8FC"/>
                </a:solidFill>
                <a:latin typeface="Aptos"/>
              </a:rPr>
              <a:t>Clear entry point ? low-friction questions ? actionable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2B8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4B9CF"/>
                </a:solidFill>
                <a:latin typeface="Aptos"/>
              </a:rPr>
              <a:t>MEDISCANAI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510528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A4B9CF"/>
                </a:solidFill>
                <a:latin typeface="Aptos"/>
              </a:rPr>
              <a:t>05  /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D2B8"/>
                </a:solidFill>
                <a:latin typeface="Aptos"/>
              </a:rPr>
              <a:t>THE DIFFERENTIATOR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A prediction you can interrogate.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332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4B9CF"/>
                </a:solidFill>
                <a:latin typeface="Aptos"/>
              </a:rPr>
              <a:t>MediscanAI pairs a top-three differential with symptom-level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4754880" cy="342900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4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95728"/>
            <a:ext cx="2103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D2B8"/>
                </a:solidFill>
                <a:latin typeface="Aptos"/>
              </a:rPr>
              <a:t>MODEL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70632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4F8FC"/>
                </a:solidFill>
                <a:latin typeface="Aptos"/>
              </a:rPr>
              <a:t>Top differential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10128"/>
            <a:ext cx="2103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Aptos"/>
              </a:rPr>
              <a:t>Condition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310128"/>
            <a:ext cx="640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2BD2B8"/>
                </a:solidFill>
                <a:latin typeface="Aptos"/>
              </a:rPr>
              <a:t>78%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584448"/>
            <a:ext cx="3977639" cy="91440"/>
          </a:xfrm>
          <a:prstGeom prst="roundRect">
            <a:avLst>
              <a:gd name="adj" fmla="val 12000"/>
            </a:avLst>
          </a:prstGeom>
          <a:solidFill>
            <a:srgbClr val="2B3F5B"/>
          </a:solidFill>
          <a:ln>
            <a:solidFill>
              <a:srgbClr val="2B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3584448"/>
            <a:ext cx="3102559" cy="91440"/>
          </a:xfrm>
          <a:prstGeom prst="roundRect">
            <a:avLst>
              <a:gd name="adj" fmla="val 12000"/>
            </a:avLst>
          </a:prstGeom>
          <a:solidFill>
            <a:srgbClr val="2BD2B8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86200"/>
            <a:ext cx="2103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Aptos"/>
              </a:rPr>
              <a:t>Condition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886200"/>
            <a:ext cx="640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5ED6FF"/>
                </a:solidFill>
                <a:latin typeface="Aptos"/>
              </a:rPr>
              <a:t>54%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160520"/>
            <a:ext cx="3977639" cy="91440"/>
          </a:xfrm>
          <a:prstGeom prst="roundRect">
            <a:avLst>
              <a:gd name="adj" fmla="val 12000"/>
            </a:avLst>
          </a:prstGeom>
          <a:solidFill>
            <a:srgbClr val="2B3F5B"/>
          </a:solidFill>
          <a:ln>
            <a:solidFill>
              <a:srgbClr val="2B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4160520"/>
            <a:ext cx="2147925" cy="91440"/>
          </a:xfrm>
          <a:prstGeom prst="roundRect">
            <a:avLst>
              <a:gd name="adj" fmla="val 12000"/>
            </a:avLst>
          </a:prstGeom>
          <a:solidFill>
            <a:srgbClr val="5ED6FF"/>
          </a:solidFill>
          <a:ln>
            <a:solidFill>
              <a:srgbClr val="5E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62272"/>
            <a:ext cx="2103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Aptos"/>
              </a:rPr>
              <a:t>Condition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462272"/>
            <a:ext cx="640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FFA652"/>
                </a:solidFill>
                <a:latin typeface="Aptos"/>
              </a:rPr>
              <a:t>31%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736592"/>
            <a:ext cx="3977639" cy="91440"/>
          </a:xfrm>
          <a:prstGeom prst="roundRect">
            <a:avLst>
              <a:gd name="adj" fmla="val 12000"/>
            </a:avLst>
          </a:prstGeom>
          <a:solidFill>
            <a:srgbClr val="2B3F5B"/>
          </a:solidFill>
          <a:ln>
            <a:solidFill>
              <a:srgbClr val="2B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" y="4736592"/>
            <a:ext cx="1233068" cy="91440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74920"/>
            <a:ext cx="4023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4B9CF"/>
                </a:solidFill>
                <a:latin typeface="Aptos"/>
              </a:rPr>
              <a:t>Confidence is a signal?not a verdict.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2304288"/>
            <a:ext cx="2743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ED6FF"/>
                </a:solidFill>
                <a:latin typeface="Aptos"/>
              </a:rPr>
              <a:t>WHY IT RANKED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2743200"/>
            <a:ext cx="5257800" cy="438912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122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816352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66E1A1"/>
                </a:solidFill>
                <a:latin typeface="Aptos"/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843784"/>
            <a:ext cx="4206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"/>
              </a:rPr>
              <a:t>Reported symptom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3337560"/>
            <a:ext cx="5257800" cy="438912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122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3410712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2BD2B8"/>
                </a:solidFill>
                <a:latin typeface="Aptos"/>
              </a:rPr>
              <a:t>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438144"/>
            <a:ext cx="4206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"/>
              </a:rPr>
              <a:t>Supporting feature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3931920"/>
            <a:ext cx="5257800" cy="438912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122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4005072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A652"/>
                </a:solidFill>
                <a:latin typeface="Aptos"/>
              </a:rPr>
              <a:t>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032504"/>
            <a:ext cx="4206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"/>
              </a:rPr>
              <a:t>Missing feature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9320" y="4526280"/>
            <a:ext cx="5257800" cy="438912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122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599432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6670"/>
                </a:solidFill>
                <a:latin typeface="Aptos"/>
              </a:rP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626864"/>
            <a:ext cx="4206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"/>
              </a:rPr>
              <a:t>Safety guidance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5349240"/>
            <a:ext cx="4846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Aptos"/>
              </a:rPr>
              <a:t>Explainability reduces the ?black box? gap between a model and a clinician.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2B8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4B9CF"/>
                </a:solidFill>
                <a:latin typeface="Aptos"/>
              </a:rPr>
              <a:t>MEDISCANAI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510528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A4B9CF"/>
                </a:solidFill>
                <a:latin typeface="Aptos"/>
              </a:rPr>
              <a:t>06  /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D2B8"/>
                </a:solidFill>
                <a:latin typeface="Aptos"/>
              </a:rPr>
              <a:t>HUMAN-IN-THE-LOOP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The model recommends. The clinician decides.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332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4B9CF"/>
                </a:solidFill>
                <a:latin typeface="Aptos"/>
              </a:rPr>
              <a:t>A review queue turns predictions into accountable care workflows.</a:t>
            </a:r>
          </a:p>
        </p:txBody>
      </p:sp>
      <p:pic>
        <p:nvPicPr>
          <p:cNvPr id="8" name="Picture 7" descr=".pp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93392"/>
            <a:ext cx="6629400" cy="3749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5815583"/>
            <a:ext cx="6629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A4B9CF"/>
                </a:solidFill>
                <a:latin typeface="Aptos"/>
              </a:rPr>
              <a:t>Doctor submissions: triage queue and review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148840"/>
            <a:ext cx="3794760" cy="114300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4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35240" y="2148840"/>
            <a:ext cx="54864" cy="1143000"/>
          </a:xfrm>
          <a:prstGeom prst="roundRect">
            <a:avLst>
              <a:gd name="adj" fmla="val 12000"/>
            </a:avLst>
          </a:prstGeom>
          <a:solidFill>
            <a:srgbClr val="2BD2B8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2331720"/>
            <a:ext cx="411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BD2B8"/>
                </a:solidFill>
                <a:latin typeface="Aptos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331720"/>
            <a:ext cx="34107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Aptos"/>
              </a:rPr>
              <a:t>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2770632"/>
            <a:ext cx="3410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4B9CF"/>
                </a:solidFill>
                <a:latin typeface="Aptos"/>
              </a:rPr>
              <a:t>Inspect symptoms, evidence, and severity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547872"/>
            <a:ext cx="3794760" cy="114300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4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35240" y="3547872"/>
            <a:ext cx="54864" cy="1143000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6408" y="3730752"/>
            <a:ext cx="411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FA652"/>
                </a:solidFill>
                <a:latin typeface="Aptos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3730752"/>
            <a:ext cx="34107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Aptos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4169663"/>
            <a:ext cx="34107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4B9CF"/>
                </a:solidFill>
                <a:latin typeface="Aptos"/>
              </a:rPr>
              <a:t>Approve, correct, or override the AI output.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946904"/>
            <a:ext cx="3794760" cy="658368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4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35240" y="4946904"/>
            <a:ext cx="54864" cy="658368"/>
          </a:xfrm>
          <a:prstGeom prst="roundRect">
            <a:avLst>
              <a:gd name="adj" fmla="val 12000"/>
            </a:avLst>
          </a:prstGeom>
          <a:solidFill>
            <a:srgbClr val="5ED6FF"/>
          </a:solidFill>
          <a:ln>
            <a:solidFill>
              <a:srgbClr val="5E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36408" y="5129784"/>
            <a:ext cx="411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5ED6FF"/>
                </a:solidFill>
                <a:latin typeface="Aptos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5129784"/>
            <a:ext cx="34107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Aptos"/>
              </a:rPr>
              <a:t>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5568696"/>
            <a:ext cx="3410712" cy="-91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4B9CF"/>
                </a:solidFill>
                <a:latin typeface="Aptos"/>
              </a:rPr>
              <a:t>Feedback becomes a durable audit trail.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2B8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4B9CF"/>
                </a:solidFill>
                <a:latin typeface="Aptos"/>
              </a:rPr>
              <a:t>MEDISCANAI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510528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A4B9CF"/>
                </a:solidFill>
                <a:latin typeface="Aptos"/>
              </a:rPr>
              <a:t>07  /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D2B8"/>
                </a:solidFill>
                <a:latin typeface="Aptos"/>
              </a:rPr>
              <a:t>BUILT TO 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A modular architecture with clear boundaries.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332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4B9CF"/>
                </a:solidFill>
                <a:latin typeface="Aptos"/>
              </a:rPr>
              <a:t>Next.js experience. Express coordination. Python intelligence. PostgreSQL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2011680" cy="96012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5E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61488"/>
            <a:ext cx="18288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PATIENT / DOCTOR
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2514600"/>
            <a:ext cx="2011680" cy="96012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2761488"/>
            <a:ext cx="18288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NEXT.JS
CLIENT :3000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2514600"/>
            <a:ext cx="2011680" cy="96012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2761488"/>
            <a:ext cx="18288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EXPRESS REST API
:3001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057400"/>
            <a:ext cx="2011680" cy="96012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304288"/>
            <a:ext cx="18288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FLASK AI ENGINE
:5000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657600"/>
            <a:ext cx="2011680" cy="96012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5E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3904487"/>
            <a:ext cx="18288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POSTGRESQL
:5432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74320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A4B9CF"/>
                </a:solidFill>
                <a:latin typeface="Aptos"/>
              </a:rPr>
              <a:t>HTTP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74320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A4B9CF"/>
                </a:solidFill>
                <a:latin typeface="Aptos"/>
              </a:rPr>
              <a:t>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28600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A4B9CF"/>
                </a:solidFill>
                <a:latin typeface="Aptos"/>
              </a:rPr>
              <a:t>/predict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88620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A4B9CF"/>
                </a:solidFill>
                <a:latin typeface="Aptos"/>
              </a:rPr>
              <a:t>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2761488"/>
            <a:ext cx="365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BD2B8"/>
                </a:solidFill>
                <a:latin typeface="Aptos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761488"/>
            <a:ext cx="365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BD2B8"/>
                </a:solidFill>
                <a:latin typeface="Aptos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761488"/>
            <a:ext cx="365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BD2B8"/>
                </a:solidFill>
                <a:latin typeface="Aptos"/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10241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Aptos"/>
              </a:rPr>
              <a:t>Containerized locally with Docker Compose ? deployable via Vercel + Render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2B8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4B9CF"/>
                </a:solidFill>
                <a:latin typeface="Aptos"/>
              </a:rPr>
              <a:t>MEDISCANAI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510528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A4B9CF"/>
                </a:solidFill>
                <a:latin typeface="Aptos"/>
              </a:rPr>
              <a:t>08  /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D2B8"/>
                </a:solidFill>
                <a:latin typeface="Aptos"/>
              </a:rPr>
              <a:t>MODEL CARD, IN ONE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Practical ML with transparent boundaries.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332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4B9CF"/>
                </a:solidFill>
                <a:latin typeface="Aptos"/>
              </a:rPr>
              <a:t>A strong baseline, made useful by the surrounding product design.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2331720" cy="137160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4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20574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2BD2B8"/>
                </a:solidFill>
                <a:latin typeface="Aptos"/>
              </a:rPr>
              <a:t>4,920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35808"/>
            <a:ext cx="2057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A4B9CF"/>
                </a:solidFill>
                <a:latin typeface="Aptos"/>
              </a:rPr>
              <a:t>training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148840"/>
            <a:ext cx="2331720" cy="137160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4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423160"/>
            <a:ext cx="20574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5ED6FF"/>
                </a:solidFill>
                <a:latin typeface="Aptos"/>
              </a:rPr>
              <a:t>132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035808"/>
            <a:ext cx="2057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A4B9CF"/>
                </a:solidFill>
                <a:latin typeface="Aptos"/>
              </a:rPr>
              <a:t>symptom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48840"/>
            <a:ext cx="2331720" cy="137160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4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423160"/>
            <a:ext cx="20574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FFA652"/>
                </a:solidFill>
                <a:latin typeface="Aptos"/>
              </a:rPr>
              <a:t>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035808"/>
            <a:ext cx="2057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A4B9CF"/>
                </a:solidFill>
                <a:latin typeface="Aptos"/>
              </a:rPr>
              <a:t>disease classes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148840"/>
            <a:ext cx="2331720" cy="137160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4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2423160"/>
            <a:ext cx="20574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66E1A1"/>
                </a:solidFill>
                <a:latin typeface="Aptos"/>
              </a:rPr>
              <a:t>TOP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035808"/>
            <a:ext cx="2057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A4B9CF"/>
                </a:solidFill>
                <a:latin typeface="Aptos"/>
              </a:rPr>
              <a:t>differential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77639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4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3977639"/>
            <a:ext cx="54864" cy="1143000"/>
          </a:xfrm>
          <a:prstGeom prst="roundRect">
            <a:avLst>
              <a:gd name="adj" fmla="val 12000"/>
            </a:avLst>
          </a:prstGeom>
          <a:solidFill>
            <a:srgbClr val="2BD2B8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160520"/>
            <a:ext cx="411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BD2B8"/>
                </a:solidFill>
                <a:latin typeface="Aptos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160520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Aptos"/>
              </a:rPr>
              <a:t>Inputs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599431"/>
            <a:ext cx="299923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4B9CF"/>
                </a:solidFill>
                <a:latin typeface="Aptos"/>
              </a:rPr>
              <a:t>Structured symptom vectors from adaptive intake.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8" y="3977639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4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07408" y="3977639"/>
            <a:ext cx="54864" cy="1143000"/>
          </a:xfrm>
          <a:prstGeom prst="roundRect">
            <a:avLst>
              <a:gd name="adj" fmla="val 12000"/>
            </a:avLst>
          </a:prstGeom>
          <a:solidFill>
            <a:srgbClr val="5ED6FF"/>
          </a:solidFill>
          <a:ln>
            <a:solidFill>
              <a:srgbClr val="5E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08576" y="4160520"/>
            <a:ext cx="411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5ED6FF"/>
                </a:solidFill>
                <a:latin typeface="Aptos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6" y="4160520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Aptos"/>
              </a:rPr>
              <a:t>Inference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4599431"/>
            <a:ext cx="299923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4B9CF"/>
                </a:solidFill>
                <a:latin typeface="Aptos"/>
              </a:rPr>
              <a:t>Random Forest + serialized preprocessing artifacts.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3296" y="3977639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4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83296" y="3977639"/>
            <a:ext cx="54864" cy="1143000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4160520"/>
            <a:ext cx="411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FA652"/>
                </a:solidFill>
                <a:latin typeface="Aptos"/>
              </a:rPr>
              <a:t>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41664" y="4160520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Aptos"/>
              </a:rP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4599431"/>
            <a:ext cx="299923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4B9CF"/>
                </a:solidFill>
                <a:latin typeface="Aptos"/>
              </a:rPr>
              <a:t>Attributions, confidence, descriptions, precautions.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2B8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4B9CF"/>
                </a:solidFill>
                <a:latin typeface="Aptos"/>
              </a:rPr>
              <a:t>MEDISCANAI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510528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A4B9CF"/>
                </a:solidFill>
                <a:latin typeface="Aptos"/>
              </a:rPr>
              <a:t>09  /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D2B8"/>
                </a:solidFill>
                <a:latin typeface="Aptos"/>
              </a:rPr>
              <a:t>TRUST IS A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Designed for sensitive workflows from day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332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4B9CF"/>
                </a:solidFill>
                <a:latin typeface="Aptos"/>
              </a:rPr>
              <a:t>Security, safety guidance, and auditability are product capabilities?not afterthoughts.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4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4864" cy="1828800"/>
          </a:xfrm>
          <a:prstGeom prst="roundRect">
            <a:avLst>
              <a:gd name="adj" fmla="val 12000"/>
            </a:avLst>
          </a:prstGeom>
          <a:solidFill>
            <a:srgbClr val="2BD2B8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286000"/>
            <a:ext cx="411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BD2B8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286000"/>
            <a:ext cx="30449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Aptos"/>
              </a:rPr>
              <a:t>Protect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724912"/>
            <a:ext cx="3044952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4B9CF"/>
                </a:solidFill>
                <a:latin typeface="Aptos"/>
              </a:rPr>
              <a:t>AES-256-GCM field encryption
Bcrypt password hashing
HTTP-only JWT cookies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10312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4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2103120"/>
            <a:ext cx="54864" cy="1828800"/>
          </a:xfrm>
          <a:prstGeom prst="roundRect">
            <a:avLst>
              <a:gd name="adj" fmla="val 12000"/>
            </a:avLst>
          </a:prstGeom>
          <a:solidFill>
            <a:srgbClr val="5ED6FF"/>
          </a:solidFill>
          <a:ln>
            <a:solidFill>
              <a:srgbClr val="5E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286000"/>
            <a:ext cx="411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5ED6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2286000"/>
            <a:ext cx="30449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Aptos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724912"/>
            <a:ext cx="3044952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4B9CF"/>
                </a:solidFill>
                <a:latin typeface="Aptos"/>
              </a:rPr>
              <a:t>Role-based access
Zod validation
CORS + Helmet + rate limits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10312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4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2103120"/>
            <a:ext cx="54864" cy="1828800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2286000"/>
            <a:ext cx="411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FA652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2286000"/>
            <a:ext cx="30449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Aptos"/>
              </a:rPr>
              <a:t>Account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724912"/>
            <a:ext cx="3044952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4B9CF"/>
                </a:solidFill>
                <a:latin typeface="Aptos"/>
              </a:rPr>
              <a:t>Append-only audit events
Doctor approval / override
Explicit medical disclaimer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10332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F6670"/>
                </a:solidFill>
                <a:latin typeface="Aptos"/>
              </a:rPr>
              <a:t>Safety boundary: this is triage assistance?not diagnosis, treatment, or emergency care.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2B8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4B9CF"/>
                </a:solidFill>
                <a:latin typeface="Aptos"/>
              </a:rPr>
              <a:t>MEDISCANAI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510528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A4B9CF"/>
                </a:solidFill>
                <a:latin typeface="Aptos"/>
              </a:rPr>
              <a:t>10  /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D2B8"/>
                </a:solidFill>
                <a:latin typeface="Aptos"/>
              </a:rPr>
              <a:t>PROOF, NOT PROMISES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A working product with a repeatable evidence pack.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332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4B9CF"/>
                </a:solidFill>
                <a:latin typeface="Aptos"/>
              </a:rPr>
              <a:t>The repository includes browser journeys, responsive screenshots, tests, and deployment manifests.</a:t>
            </a:r>
          </a:p>
        </p:txBody>
      </p:sp>
      <p:pic>
        <p:nvPicPr>
          <p:cNvPr id="8" name="Picture 7" descr=".pp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103120"/>
            <a:ext cx="5303520" cy="3429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5605272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A4B9CF"/>
                </a:solidFill>
                <a:latin typeface="Aptos"/>
              </a:rPr>
              <a:t>Clinical analytics: a reviewable system of record</a:t>
            </a:r>
          </a:p>
        </p:txBody>
      </p:sp>
      <p:pic>
        <p:nvPicPr>
          <p:cNvPr id="10" name="Picture 9" descr=".ppt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103120"/>
            <a:ext cx="5285232" cy="3429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9632" y="5605272"/>
            <a:ext cx="5285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A4B9CF"/>
                </a:solidFill>
                <a:latin typeface="Aptos"/>
              </a:rPr>
              <a:t>Health report: patient-facing summary and next steps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5742432"/>
            <a:ext cx="1234440" cy="292608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783580"/>
            <a:ext cx="12344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081226"/>
                </a:solidFill>
                <a:latin typeface="Aptos"/>
              </a:rPr>
              <a:t>EVIDENCE PACK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5788152"/>
            <a:ext cx="8961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4F8FC"/>
                </a:solidFill>
                <a:latin typeface="Aptos"/>
              </a:rPr>
              <a:t>QA journey ? screenshots ? video storyboard ? Jest ? Python tests ? Docker ? Render ? Vercel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2B8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4B9CF"/>
                </a:solidFill>
                <a:latin typeface="Aptos"/>
              </a:rPr>
              <a:t>MEDISCANAI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510528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A4B9CF"/>
                </a:solidFill>
                <a:latin typeface="Aptos"/>
              </a:rPr>
              <a:t>11  /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5212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D2B8"/>
                </a:solidFill>
                <a:latin typeface="Aptos"/>
              </a:rPr>
              <a:t>WHY THIS CAN 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789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The product closes the loop other symptom checkers leave open.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10332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4B9CF"/>
                </a:solidFill>
                <a:latin typeface="Aptos"/>
              </a:rPr>
              <a:t>It is not just a model demo?it is a usable, explainable, accountable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097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D2B8"/>
                </a:solidFill>
                <a:latin typeface="Aptos"/>
              </a:rPr>
              <a:t>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15768"/>
            <a:ext cx="82296" cy="82296"/>
          </a:xfrm>
          <a:prstGeom prst="roundRect">
            <a:avLst>
              <a:gd name="adj" fmla="val 12000"/>
            </a:avLst>
          </a:prstGeom>
          <a:solidFill>
            <a:srgbClr val="2BD2B8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651760"/>
            <a:ext cx="4096512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Aptos"/>
              </a:rPr>
              <a:t>Adaptive symptom intake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91839"/>
            <a:ext cx="82296" cy="82296"/>
          </a:xfrm>
          <a:prstGeom prst="roundRect">
            <a:avLst>
              <a:gd name="adj" fmla="val 12000"/>
            </a:avLst>
          </a:prstGeom>
          <a:solidFill>
            <a:srgbClr val="2BD2B8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227832"/>
            <a:ext cx="4096512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Aptos"/>
              </a:rPr>
              <a:t>Top-three explainable prediction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867912"/>
            <a:ext cx="82296" cy="82296"/>
          </a:xfrm>
          <a:prstGeom prst="roundRect">
            <a:avLst>
              <a:gd name="adj" fmla="val 12000"/>
            </a:avLst>
          </a:prstGeom>
          <a:solidFill>
            <a:srgbClr val="2BD2B8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803904"/>
            <a:ext cx="4096512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Aptos"/>
              </a:rPr>
              <a:t>Clinician review and audit trail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43984"/>
            <a:ext cx="82296" cy="82296"/>
          </a:xfrm>
          <a:prstGeom prst="roundRect">
            <a:avLst>
              <a:gd name="adj" fmla="val 12000"/>
            </a:avLst>
          </a:prstGeom>
          <a:solidFill>
            <a:srgbClr val="2BD2B8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379976"/>
            <a:ext cx="4096512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Aptos"/>
              </a:rPr>
              <a:t>Responsive, deployable web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240280"/>
            <a:ext cx="1097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FA652"/>
                </a:solidFill>
                <a:latin typeface="Aptos"/>
              </a:rPr>
              <a:t>NEXT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715768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2651760"/>
            <a:ext cx="4279392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Aptos"/>
              </a:rPr>
              <a:t>Calibrate probabilities on broader clinical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291839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3227832"/>
            <a:ext cx="4279392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Aptos"/>
              </a:rPr>
              <a:t>Measure clinician agreement and time saved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867912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3803904"/>
            <a:ext cx="4279392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Aptos"/>
              </a:rPr>
              <a:t>Add multilingual and accessibility-first flows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443984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4379976"/>
            <a:ext cx="4279392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Aptos"/>
              </a:rPr>
              <a:t>Connect approved referrals and follow-up care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0" y="2331720"/>
            <a:ext cx="54864" cy="2880360"/>
          </a:xfrm>
          <a:prstGeom prst="roundRect">
            <a:avLst>
              <a:gd name="adj" fmla="val 12000"/>
            </a:avLst>
          </a:prstGeom>
          <a:solidFill>
            <a:srgbClr val="2C4867"/>
          </a:solidFill>
          <a:ln>
            <a:solidFill>
              <a:srgbClr val="2C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3492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F4F8FC"/>
                </a:solidFill>
                <a:latin typeface="Aptos"/>
              </a:rPr>
              <a:t>From ?What might this be??
to ?What should happen next??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2B8"/>
          </a:solidFill>
          <a:ln>
            <a:solidFill>
              <a:srgbClr val="2B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A4B9C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510528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A4B9CF"/>
                </a:solidFill>
                <a:latin typeface="Aptos"/>
              </a:rPr>
              <a:t>12  /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77724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4F8FC"/>
                </a:solidFill>
                <a:latin typeface="Aptos"/>
              </a:rPr>
              <a:t>The next step in healthcare AI
is not louder certainty.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04288"/>
            <a:ext cx="77724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BD2B8"/>
                </a:solidFill>
                <a:latin typeface="Aptos"/>
              </a:rPr>
              <a:t>It is better clarity, shared with the people
who make the final decision.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86200"/>
            <a:ext cx="5074920" cy="914400"/>
          </a:xfrm>
          <a:prstGeom prst="roundRect">
            <a:avLst>
              <a:gd name="adj" fmla="val 12000"/>
            </a:avLst>
          </a:prstGeom>
          <a:solidFill>
            <a:srgbClr val="122746"/>
          </a:solidFill>
          <a:ln>
            <a:solidFill>
              <a:srgbClr val="244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BD2B8"/>
                </a:solidFill>
                <a:latin typeface="Aptos"/>
              </a:rPr>
              <a:t>MEDISCANAI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4206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4F8FC"/>
                </a:solidFill>
                <a:latin typeface="Aptos"/>
              </a:rPr>
              <a:t>Yash Vijay  ?  JECRC Foundation, Jaipur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92040"/>
            <a:ext cx="4023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A4B9CF"/>
                </a:solidFill>
                <a:latin typeface="Aptos"/>
              </a:rPr>
              <a:t>Architecture + presentation links can be added in the README before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MediscanAI - Winning Pitch Deck</dc:title>
  <dc:subject>Explainable AI Clinical Decision Support System</dc:subject>
  <dc:creator>Yash Vijay</dc:creator>
  <cp:keywords/>
  <dc:description>Academic prototype. Not for clinical diagnosis.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